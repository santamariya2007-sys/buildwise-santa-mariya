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DCFAE"/>
                </a:solidFill>
                <a:latin typeface="Aptos"/>
              </a:defRPr>
            </a:pPr>
            <a:r>
              <a:t>GREEN BUILDING ENERGY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Aptos Display"/>
              </a:defRPr>
            </a:pPr>
            <a:r>
              <a:t>BUILDWISE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718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0">
                <a:solidFill>
                  <a:srgbClr val="DAE8DA"/>
                </a:solidFill>
                <a:latin typeface="Aptos"/>
              </a:defRPr>
            </a:pPr>
            <a:r>
              <a:t>A Building Energy Digital Twin</a:t>
            </a:r>
            <a:br/>
            <a:r>
              <a:t>&amp; What-If Simulation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983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Group presentation • CO900G Environmental Science &amp; Sustainable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6692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ADCFAE"/>
                </a:solidFill>
                <a:latin typeface="Aptos"/>
              </a:defRPr>
            </a:pPr>
            <a:r>
              <a:t>Rida  |  Sanjo  |  Santa  |  Sharon  |  Sreelakshmi  |  Nihara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5739"/>
                </a:solidFill>
                <a:latin typeface="Aptos"/>
              </a:defRPr>
            </a:pPr>
            <a:r>
              <a:t>BUILDWISE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92B20"/>
                </a:solidFill>
                <a:latin typeface="Aptos"/>
              </a:defRPr>
            </a:pPr>
            <a:r>
              <a:t>The problem: buildings use energy inefficiently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914400" cy="54864"/>
          </a:xfrm>
          <a:prstGeom prst="rect">
            <a:avLst/>
          </a:prstGeom>
          <a:solidFill>
            <a:srgbClr val="DD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C60"/>
                </a:solidFill>
                <a:latin typeface="Aptos"/>
              </a:defRPr>
            </a:pPr>
            <a:r>
              <a:t>BUILDWISE • Student prototype • Estimates depend on input assumptions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Electricity use is shaped by lighting, cooling, equipment, occupancy and operating schedules.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A high bill tells us what was consumed—but not which improvement is worth trying.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Making changes without comparing options can involve cost, disruption and uncertain results.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Our project question: How can a building team compare possible efficiency measures before implementation?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5739"/>
                </a:solidFill>
                <a:latin typeface="Aptos"/>
              </a:defRPr>
            </a:pPr>
            <a:r>
              <a:t>BUILDWISE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92B20"/>
                </a:solidFill>
                <a:latin typeface="Aptos"/>
              </a:defRPr>
            </a:pPr>
            <a:r>
              <a:t>Why this matters for sustainability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914400" cy="54864"/>
          </a:xfrm>
          <a:prstGeom prst="rect">
            <a:avLst/>
          </a:prstGeom>
          <a:solidFill>
            <a:srgbClr val="DD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C60"/>
                </a:solidFill>
                <a:latin typeface="Aptos"/>
              </a:defRPr>
            </a:pPr>
            <a:r>
              <a:t>BUILDWISE • Student prototype • Estimates depend on input assumptions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Less electricity demand can reduce indirect greenhouse-gas emissions when grid electricity is fossil-fuel intensive.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Efficiency can lower operating costs and improve awareness of energy use.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Better planning supports continual improvement rather than one-time monitoring.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Relevant SDG: SDG 7 — Affordable and Clean Energy; also connected to responsible resource use.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5739"/>
                </a:solidFill>
                <a:latin typeface="Aptos"/>
              </a:defRPr>
            </a:pPr>
            <a:r>
              <a:t>BUILDWISE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92B20"/>
                </a:solidFill>
                <a:latin typeface="Aptos"/>
              </a:defRPr>
            </a:pPr>
            <a:r>
              <a:t>Existing approach vs our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914400" cy="54864"/>
          </a:xfrm>
          <a:prstGeom prst="rect">
            <a:avLst/>
          </a:prstGeom>
          <a:solidFill>
            <a:srgbClr val="DD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C60"/>
                </a:solidFill>
                <a:latin typeface="Aptos"/>
              </a:defRPr>
            </a:pPr>
            <a:r>
              <a:t>BUILDWISE • Student prototype • Estimates depend on input assumptions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920240"/>
            <a:ext cx="502920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2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255739"/>
                </a:solidFill>
                <a:latin typeface="Aptos"/>
              </a:defRPr>
            </a:pPr>
            <a:r>
              <a:t>Typical energy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92B20"/>
                </a:solidFill>
                <a:latin typeface="Aptos"/>
              </a:defRPr>
            </a:pPr>
            <a:r>
              <a:t>Shows current or historical use.</a:t>
            </a:r>
            <a:br/>
            <a:r>
              <a:t>Helps answer: “What is happening?”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920240"/>
            <a:ext cx="502920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2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59" y="2331720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255739"/>
                </a:solidFill>
                <a:latin typeface="Aptos"/>
              </a:defRPr>
            </a:pPr>
            <a:r>
              <a:t>BUILDWISE scenario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310896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0">
                <a:solidFill>
                  <a:srgbClr val="192B20"/>
                </a:solidFill>
                <a:latin typeface="Aptos"/>
              </a:defRPr>
            </a:pPr>
            <a:r>
              <a:t>Lets users test assumed changes.</a:t>
            </a:r>
            <a:br/>
            <a:r>
              <a:t>Helps answer: “What might happen if…?”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39496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55739"/>
                </a:solidFill>
                <a:latin typeface="Aptos"/>
              </a:defRPr>
            </a:pPr>
            <a:r>
              <a:t>BUILDWISE is decision support—not automatic building control.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5739"/>
                </a:solidFill>
                <a:latin typeface="Aptos"/>
              </a:defRPr>
            </a:pPr>
            <a:r>
              <a:t>BUILDWISE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92B20"/>
                </a:solidFill>
                <a:latin typeface="Aptos"/>
              </a:defRPr>
            </a:pPr>
            <a:r>
              <a:t>Our proposed solution: BUILDWISE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914400" cy="54864"/>
          </a:xfrm>
          <a:prstGeom prst="rect">
            <a:avLst/>
          </a:prstGeom>
          <a:solidFill>
            <a:srgbClr val="DD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C60"/>
                </a:solidFill>
                <a:latin typeface="Aptos"/>
              </a:defRPr>
            </a:pPr>
            <a:r>
              <a:t>BUILDWISE • Student prototype • Estimates depend on input assumptions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Create a simplified digital representation from building profile information.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Calculate baseline energy indicators, including Energy Performance Index (EPI).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Let the user choose a measure and enter an assumed reduction, cost, tariff and emission factor.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Compare baseline and scenario; estimate energy, bill and emissions differences, plus simple payback.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Show assumptions clearly so users can discuss feasibility—not treat outputs as guaranteed savings.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5739"/>
                </a:solidFill>
                <a:latin typeface="Aptos"/>
              </a:defRPr>
            </a:pPr>
            <a:r>
              <a:t>BUILDWISE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92B20"/>
                </a:solidFill>
                <a:latin typeface="Aptos"/>
              </a:defRPr>
            </a:pPr>
            <a:r>
              <a:t>How the website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914400" cy="54864"/>
          </a:xfrm>
          <a:prstGeom prst="rect">
            <a:avLst/>
          </a:prstGeom>
          <a:solidFill>
            <a:srgbClr val="DD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C60"/>
                </a:solidFill>
                <a:latin typeface="Aptos"/>
              </a:defRPr>
            </a:pPr>
            <a:r>
              <a:t>BUILDWISE • Student prototype • Estimates depend on input assumptions</a:t>
            </a:r>
          </a:p>
        </p:txBody>
      </p:sp>
      <p:sp>
        <p:nvSpPr>
          <p:cNvPr id="7" name="Oval 6"/>
          <p:cNvSpPr/>
          <p:nvPr/>
        </p:nvSpPr>
        <p:spPr>
          <a:xfrm>
            <a:off x="1371600" y="1920240"/>
            <a:ext cx="731520" cy="731520"/>
          </a:xfrm>
          <a:prstGeom prst="ellipse">
            <a:avLst/>
          </a:prstGeom>
          <a:solidFill>
            <a:srgbClr val="255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81912" y="2084831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803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5739"/>
                </a:solidFill>
                <a:latin typeface="Aptos"/>
              </a:defRPr>
            </a:pPr>
            <a:r>
              <a:t>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290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92B20"/>
                </a:solidFill>
                <a:latin typeface="Aptos"/>
              </a:defRPr>
            </a:pPr>
            <a:r>
              <a:t>Building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DDA64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4251960" y="1920240"/>
            <a:ext cx="731520" cy="731520"/>
          </a:xfrm>
          <a:prstGeom prst="ellipse">
            <a:avLst/>
          </a:prstGeom>
          <a:solidFill>
            <a:srgbClr val="255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62272" y="2084831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8803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5739"/>
                </a:solidFill>
                <a:latin typeface="Aptos"/>
              </a:defRPr>
            </a:pPr>
            <a:r>
              <a:t>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4290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92B20"/>
                </a:solidFill>
                <a:latin typeface="Aptos"/>
              </a:defRPr>
            </a:pPr>
            <a:r>
              <a:t>Annual kWh + EPI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DDA64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7132320" y="1920240"/>
            <a:ext cx="731520" cy="731520"/>
          </a:xfrm>
          <a:prstGeom prst="ellipse">
            <a:avLst/>
          </a:prstGeom>
          <a:solidFill>
            <a:srgbClr val="255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42631" y="2084831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8803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5739"/>
                </a:solidFill>
                <a:latin typeface="Aptos"/>
              </a:defRPr>
            </a:pPr>
            <a:r>
              <a:t>SIMULATE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4290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92B20"/>
                </a:solidFill>
                <a:latin typeface="Aptos"/>
              </a:defRPr>
            </a:pPr>
            <a:r>
              <a:t>Choose measure + assumptions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DDA64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Oval 21"/>
          <p:cNvSpPr/>
          <p:nvPr/>
        </p:nvSpPr>
        <p:spPr>
          <a:xfrm>
            <a:off x="10012680" y="1920240"/>
            <a:ext cx="731520" cy="731520"/>
          </a:xfrm>
          <a:prstGeom prst="ellipse">
            <a:avLst/>
          </a:prstGeom>
          <a:solidFill>
            <a:srgbClr val="2557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222992" y="2084831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8803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55739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4290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92B20"/>
                </a:solidFill>
                <a:latin typeface="Aptos"/>
              </a:defRPr>
            </a:pPr>
            <a:r>
              <a:t>Savings + payback + export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166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B6C60"/>
                </a:solidFill>
                <a:latin typeface="Aptos"/>
              </a:defRPr>
            </a:pPr>
            <a:r>
              <a:t>Manual inputs • Browser-based prototype • No physical sensors required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5739"/>
                </a:solidFill>
                <a:latin typeface="Aptos"/>
              </a:defRPr>
            </a:pPr>
            <a:r>
              <a:t>BUILDWISE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92B20"/>
                </a:solidFill>
                <a:latin typeface="Aptos"/>
              </a:defRPr>
            </a:pPr>
            <a:r>
              <a:t>Sustainability and technical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914400" cy="54864"/>
          </a:xfrm>
          <a:prstGeom prst="rect">
            <a:avLst/>
          </a:prstGeom>
          <a:solidFill>
            <a:srgbClr val="DD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C60"/>
                </a:solidFill>
                <a:latin typeface="Aptos"/>
              </a:defRPr>
            </a:pPr>
            <a:r>
              <a:t>BUILDWISE • Student prototype • Estimates depend on input assumptions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Environmental: estimates annual kWh reduction and avoided CO₂ using a chosen grid factor.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Economic: estimates annual bill savings and simple payback from user-entered cost and tariff.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Operational: makes trade-offs visible before selecting a measure.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Social/learning: helps building users understand how schedules and equipment affect energy.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Limitations: simplified model; input quality, weather, occupancy and real equipment performance affect actual outcomes.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5739"/>
                </a:solidFill>
                <a:latin typeface="Aptos"/>
              </a:defRPr>
            </a:pPr>
            <a:r>
              <a:t>BUILDWISE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92B20"/>
                </a:solidFill>
                <a:latin typeface="Aptos"/>
              </a:defRPr>
            </a:pPr>
            <a:r>
              <a:t>Six individual ideas → one group direction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914400" cy="54864"/>
          </a:xfrm>
          <a:prstGeom prst="rect">
            <a:avLst/>
          </a:prstGeom>
          <a:solidFill>
            <a:srgbClr val="DD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C60"/>
                </a:solidFill>
                <a:latin typeface="Aptos"/>
              </a:defRPr>
            </a:pPr>
            <a:r>
              <a:t>BUILDWISE • Student prototype • Estimates depend on input assumptions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Each member independently explored a solution to energy-inefficient buildings, as required for the individual-report stage.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The group direction is the Green Building Energy Management Portal, with BUILDWISE as its what-if decision-support feature.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Selection discussion: usefulness to the shared problem, feasibility for a student prototype, clarity of demonstration, and potential for future expansion.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Use the exact titles from your six submitted individual reports in the final version of this slide.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7150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65B24"/>
                </a:solidFill>
                <a:latin typeface="Aptos"/>
              </a:defRPr>
            </a:pPr>
            <a:r>
              <a:t>Replace this note with your six report titles before presenting.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5739"/>
                </a:solidFill>
                <a:latin typeface="Aptos"/>
              </a:defRPr>
            </a:pPr>
            <a:r>
              <a:t>BUILDWISE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92B20"/>
                </a:solidFill>
                <a:latin typeface="Aptos"/>
              </a:defRPr>
            </a:pPr>
            <a:r>
              <a:t>Website features implemented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914400" cy="54864"/>
          </a:xfrm>
          <a:prstGeom prst="rect">
            <a:avLst/>
          </a:prstGeom>
          <a:solidFill>
            <a:srgbClr val="DD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C60"/>
                </a:solidFill>
                <a:latin typeface="Aptos"/>
              </a:defRPr>
            </a:pPr>
            <a:r>
              <a:t>BUILDWISE • Student prototype • Estimates depend on input assumptions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Home page introduces the building-energy problem and BUILDWISE.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Building Profile validates inputs and calculates EPI = annual kWh ÷ floor area.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Baseline Dashboard displays annual electricity, EPI, floor area and occupancy.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Monthly input area visualizes entered values (or clearly labelled illustrative example values).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What-if simulator calculates estimated energy saved, bill savings, avoided emissions and simple payback.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Export creates a plain-text summary for discussion.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5739"/>
                </a:solidFill>
                <a:latin typeface="Aptos"/>
              </a:defRPr>
            </a:pPr>
            <a:r>
              <a:t>BUILDWISE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92B20"/>
                </a:solidFill>
                <a:latin typeface="Aptos"/>
              </a:defRPr>
            </a:pPr>
            <a:r>
              <a:t>Live demo: what we will show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914400" cy="54864"/>
          </a:xfrm>
          <a:prstGeom prst="rect">
            <a:avLst/>
          </a:prstGeom>
          <a:solidFill>
            <a:srgbClr val="DD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C60"/>
                </a:solidFill>
                <a:latin typeface="Aptos"/>
              </a:defRPr>
            </a:pPr>
            <a:r>
              <a:t>BUILDWISE • Student prototype • Estimates depend on input assumptions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192B20"/>
                </a:solidFill>
                <a:latin typeface="Aptos"/>
              </a:defRPr>
            </a:pPr>
            <a:r>
              <a:t>• 1. Enter a sample building profile (use the example values in the demo guide).</a:t>
            </a:r>
          </a:p>
          <a:p>
            <a:pPr>
              <a:spcAft>
                <a:spcPts val="1600"/>
              </a:spcAft>
              <a:defRPr sz="1900">
                <a:solidFill>
                  <a:srgbClr val="192B20"/>
                </a:solidFill>
                <a:latin typeface="Aptos"/>
              </a:defRPr>
            </a:pPr>
            <a:r>
              <a:t>• 2. Show the baseline dashboard and explain EPI.</a:t>
            </a:r>
          </a:p>
          <a:p>
            <a:pPr>
              <a:spcAft>
                <a:spcPts val="1600"/>
              </a:spcAft>
              <a:defRPr sz="1900">
                <a:solidFill>
                  <a:srgbClr val="192B20"/>
                </a:solidFill>
                <a:latin typeface="Aptos"/>
              </a:defRPr>
            </a:pPr>
            <a:r>
              <a:t>• 3. Fill illustrative monthly values and point out the chart.</a:t>
            </a:r>
          </a:p>
          <a:p>
            <a:pPr>
              <a:spcAft>
                <a:spcPts val="1600"/>
              </a:spcAft>
              <a:defRPr sz="1900">
                <a:solidFill>
                  <a:srgbClr val="192B20"/>
                </a:solidFill>
                <a:latin typeface="Aptos"/>
              </a:defRPr>
            </a:pPr>
            <a:r>
              <a:t>• 4. Select an improvement, set assumptions and run the simulation.</a:t>
            </a:r>
          </a:p>
          <a:p>
            <a:pPr>
              <a:spcAft>
                <a:spcPts val="1600"/>
              </a:spcAft>
              <a:defRPr sz="1900">
                <a:solidFill>
                  <a:srgbClr val="192B20"/>
                </a:solidFill>
                <a:latin typeface="Aptos"/>
              </a:defRPr>
            </a:pPr>
            <a:r>
              <a:t>• 5. Compare baseline vs scenario; explain energy, cost, CO₂ and payback.</a:t>
            </a:r>
          </a:p>
          <a:p>
            <a:pPr>
              <a:spcAft>
                <a:spcPts val="1600"/>
              </a:spcAft>
              <a:defRPr sz="1900">
                <a:solidFill>
                  <a:srgbClr val="192B20"/>
                </a:solidFill>
                <a:latin typeface="Aptos"/>
              </a:defRPr>
            </a:pPr>
            <a:r>
              <a:t>• 6. Export the summary and remind the class that estimates are not guaranteed results.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5739"/>
                </a:solidFill>
                <a:latin typeface="Aptos"/>
              </a:defRPr>
            </a:pPr>
            <a:r>
              <a:t>BUILDWISE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92B20"/>
                </a:solidFill>
                <a:latin typeface="Aptos"/>
              </a:defRPr>
            </a:pPr>
            <a:r>
              <a:t>Example calculation (illustrative only)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914400" cy="54864"/>
          </a:xfrm>
          <a:prstGeom prst="rect">
            <a:avLst/>
          </a:prstGeom>
          <a:solidFill>
            <a:srgbClr val="DD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C60"/>
                </a:solidFill>
                <a:latin typeface="Aptos"/>
              </a:defRPr>
            </a:pPr>
            <a:r>
              <a:t>BUILDWISE • Student prototype • Estimates depend on input assumptions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192B20"/>
                </a:solidFill>
                <a:latin typeface="Aptos"/>
              </a:defRPr>
            </a:pPr>
            <a:r>
              <a:t>• Baseline annual electricity: 100,000 kWh; floor area: 5,000 m².</a:t>
            </a:r>
          </a:p>
          <a:p>
            <a:pPr>
              <a:spcAft>
                <a:spcPts val="1600"/>
              </a:spcAft>
              <a:defRPr sz="1900">
                <a:solidFill>
                  <a:srgbClr val="192B20"/>
                </a:solidFill>
                <a:latin typeface="Aptos"/>
              </a:defRPr>
            </a:pPr>
            <a:r>
              <a:t>• EPI = 100,000 ÷ 5,000 = 20 kWh/m²/year.</a:t>
            </a:r>
          </a:p>
          <a:p>
            <a:pPr>
              <a:spcAft>
                <a:spcPts val="1600"/>
              </a:spcAft>
              <a:defRPr sz="1900">
                <a:solidFill>
                  <a:srgbClr val="192B20"/>
                </a:solidFill>
                <a:latin typeface="Aptos"/>
              </a:defRPr>
            </a:pPr>
            <a:r>
              <a:t>• Assumed reduction: 12% → estimated saving = 12,000 kWh/year.</a:t>
            </a:r>
          </a:p>
          <a:p>
            <a:pPr>
              <a:spcAft>
                <a:spcPts val="1600"/>
              </a:spcAft>
              <a:defRPr sz="1900">
                <a:solidFill>
                  <a:srgbClr val="192B20"/>
                </a:solidFill>
                <a:latin typeface="Aptos"/>
              </a:defRPr>
            </a:pPr>
            <a:r>
              <a:t>• At ₹8/kWh → estimated bill saving = ₹96,000/year.</a:t>
            </a:r>
          </a:p>
          <a:p>
            <a:pPr>
              <a:spcAft>
                <a:spcPts val="1600"/>
              </a:spcAft>
              <a:defRPr sz="1900">
                <a:solidFill>
                  <a:srgbClr val="192B20"/>
                </a:solidFill>
                <a:latin typeface="Aptos"/>
              </a:defRPr>
            </a:pPr>
            <a:r>
              <a:t>• At 0.716 kg CO₂/kWh → estimated avoided emissions = 8,592 kg CO₂/year.</a:t>
            </a:r>
          </a:p>
          <a:p>
            <a:pPr>
              <a:spcAft>
                <a:spcPts val="1600"/>
              </a:spcAft>
              <a:defRPr sz="1900">
                <a:solidFill>
                  <a:srgbClr val="192B20"/>
                </a:solidFill>
                <a:latin typeface="Aptos"/>
              </a:defRPr>
            </a:pPr>
            <a:r>
              <a:t>• If implementation cost is ₹150,000 → simple payback ≈ 1.6 years.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5739"/>
                </a:solidFill>
                <a:latin typeface="Aptos"/>
              </a:defRPr>
            </a:pPr>
            <a:r>
              <a:t>BUILDWISE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92B20"/>
                </a:solidFill>
                <a:latin typeface="Aptos"/>
              </a:defRPr>
            </a:pPr>
            <a:r>
              <a:t>Conclusion, limitations &amp; 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914400" cy="54864"/>
          </a:xfrm>
          <a:prstGeom prst="rect">
            <a:avLst/>
          </a:prstGeom>
          <a:solidFill>
            <a:srgbClr val="DDA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C60"/>
                </a:solidFill>
                <a:latin typeface="Aptos"/>
              </a:defRPr>
            </a:pPr>
            <a:r>
              <a:t>BUILDWISE • Student prototype • Estimates depend on input assumptions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BUILDWISE turns a basic energy profile into a transparent what-if comparison.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It supports discussion and early screening; it does not control equipment or replace a professional audit.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Current prototype uses manual data and simplified percentage-based calculations.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Next steps: validate assumptions with credible data, improve monthly-data handling, test usability, and consider CSV/smart-meter integration.</a:t>
            </a:r>
          </a:p>
          <a:p>
            <a:pPr>
              <a:spcAft>
                <a:spcPts val="1600"/>
              </a:spcAft>
              <a:defRPr sz="2100">
                <a:solidFill>
                  <a:srgbClr val="192B20"/>
                </a:solidFill>
                <a:latin typeface="Aptos"/>
              </a:defRPr>
            </a:pPr>
            <a:r>
              <a:t>• 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1014</Words>
  <Application>Microsoft Office PowerPoint</Application>
  <PresentationFormat>Widescreen</PresentationFormat>
  <Paragraphs>105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Santa Mariya</dc:creator>
  <cp:keywords/>
  <dc:description>generated using python-pptx</dc:description>
  <cp:lastModifiedBy>Santa Mariya</cp:lastModifiedBy>
  <cp:revision>1</cp:revision>
  <dcterms:created xsi:type="dcterms:W3CDTF">2013-01-27T09:14:16Z</dcterms:created>
  <dcterms:modified xsi:type="dcterms:W3CDTF">2026-09-25T17:00:13Z</dcterms:modified>
  <cp:category/>
</cp:coreProperties>
</file>